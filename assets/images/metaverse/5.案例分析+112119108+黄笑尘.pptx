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unknown"/>
  <Override PartName="/ppt/media/image4.jpg" ContentType="image/unknown"/>
  <Override PartName="/ppt/notesSlides/notesSlide3.xml" ContentType="application/vnd.openxmlformats-officedocument.presentationml.notesSlide+xml"/>
  <Override PartName="/ppt/media/image5.jpg" ContentType="image/unknown"/>
  <Override PartName="/ppt/media/image6.jpg" ContentType="image/unknown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" r:id="rId2"/>
    <p:sldId id="294" r:id="rId3"/>
    <p:sldId id="313" r:id="rId4"/>
    <p:sldId id="296" r:id="rId5"/>
    <p:sldId id="320" r:id="rId6"/>
    <p:sldId id="319" r:id="rId7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375F"/>
    <a:srgbClr val="442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8BE76-29C8-41AB-8544-889D89FA4F96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AD677-048F-409F-AACD-0A0B5EF61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366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1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991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82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646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734D7E-DDC1-43BA-BA84-4A1CFE3D341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711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746729"/>
      </p:ext>
    </p:extLst>
  </p:cSld>
  <p:clrMapOvr>
    <a:masterClrMapping/>
  </p:clrMapOvr>
  <p:transition spd="med" advClick="0" advTm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103537"/>
      </p:ext>
    </p:extLst>
  </p:cSld>
  <p:clrMapOvr>
    <a:masterClrMapping/>
  </p:clrMapOvr>
  <p:transition spd="med" advClick="0" advTm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9085"/>
      </p:ext>
    </p:extLst>
  </p:cSld>
  <p:clrMapOvr>
    <a:masterClrMapping/>
  </p:clrMapOvr>
  <p:transition spd="med" advClick="0" advTm="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159219"/>
      </p:ext>
    </p:extLst>
  </p:cSld>
  <p:clrMapOvr>
    <a:masterClrMapping/>
  </p:clrMapOvr>
  <p:transition spd="med" advClick="0" advTm="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275"/>
      </p:ext>
    </p:extLst>
  </p:cSld>
  <p:clrMapOvr>
    <a:masterClrMapping/>
  </p:clrMapOvr>
  <p:transition spd="med" advClick="0" advTm="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057927"/>
      </p:ext>
    </p:extLst>
  </p:cSld>
  <p:clrMapOvr>
    <a:masterClrMapping/>
  </p:clrMapOvr>
  <p:transition spd="med" advClick="0" advTm="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428924"/>
      </p:ext>
    </p:extLst>
  </p:cSld>
  <p:clrMapOvr>
    <a:masterClrMapping/>
  </p:clrMapOvr>
  <p:transition spd="med" advClick="0" advTm="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63871"/>
      </p:ext>
    </p:extLst>
  </p:cSld>
  <p:clrMapOvr>
    <a:masterClrMapping/>
  </p:clrMapOvr>
  <p:transition spd="med" advClick="0" advTm="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01385"/>
      </p:ext>
    </p:extLst>
  </p:cSld>
  <p:clrMapOvr>
    <a:masterClrMapping/>
  </p:clrMapOvr>
  <p:transition spd="med" advClick="0" advTm="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827731"/>
      </p:ext>
    </p:extLst>
  </p:cSld>
  <p:clrMapOvr>
    <a:masterClrMapping/>
  </p:clrMapOvr>
  <p:transition spd="med" advClick="0" advTm="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846656"/>
      </p:ext>
    </p:extLst>
  </p:cSld>
  <p:clrMapOvr>
    <a:masterClrMapping/>
  </p:clrMapOvr>
  <p:transition spd="med" advClick="0" advTm="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643704"/>
      </p:ext>
    </p:extLst>
  </p:cSld>
  <p:clrMapOvr>
    <a:masterClrMapping/>
  </p:clrMapOvr>
  <p:transition spd="med" advClick="0" advTm="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37975-6AF7-4301-9DC5-87C074AA59D1}" type="datetimeFigureOut">
              <a:rPr lang="zh-CN" altLang="en-US" smtClean="0"/>
              <a:t>2022/6/2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5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 advClick="0" advTm="0">
    <p:fad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对角圆角矩形 2"/>
          <p:cNvSpPr/>
          <p:nvPr/>
        </p:nvSpPr>
        <p:spPr>
          <a:xfrm>
            <a:off x="1581488" y="1461408"/>
            <a:ext cx="6155194" cy="1756228"/>
          </a:xfrm>
          <a:prstGeom prst="round2Diag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51819" y="1616247"/>
            <a:ext cx="19976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latin typeface="Agency FB" panose="020B0503020202020204" pitchFamily="34" charset="0"/>
              </a:rPr>
              <a:t>2022</a:t>
            </a:r>
            <a:endParaRPr lang="zh-CN" altLang="en-US" sz="8800" dirty="0">
              <a:latin typeface="Agency FB" panose="020B0503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92135" y="186604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体验案例分析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03783" y="2450819"/>
            <a:ext cx="2715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112119108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黄笑尘</a:t>
            </a:r>
          </a:p>
        </p:txBody>
      </p:sp>
    </p:spTree>
    <p:extLst>
      <p:ext uri="{BB962C8B-B14F-4D97-AF65-F5344CB8AC3E}">
        <p14:creationId xmlns:p14="http://schemas.microsoft.com/office/powerpoint/2010/main" val="2412638660"/>
      </p:ext>
    </p:extLst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10"/>
                            </p:stCondLst>
                            <p:childTnLst>
                              <p:par>
                                <p:cTn id="16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60"/>
                            </p:stCondLst>
                            <p:childTnLst>
                              <p:par>
                                <p:cTn id="21" presetID="2" presetClass="entr" presetSubtype="4" decel="28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等腰三角形 5"/>
          <p:cNvSpPr>
            <a:spLocks noChangeArrowheads="1"/>
          </p:cNvSpPr>
          <p:nvPr/>
        </p:nvSpPr>
        <p:spPr bwMode="auto">
          <a:xfrm rot="16200000" flipV="1">
            <a:off x="-779235" y="779235"/>
            <a:ext cx="5143500" cy="3585029"/>
          </a:xfrm>
          <a:custGeom>
            <a:avLst/>
            <a:gdLst>
              <a:gd name="T0" fmla="*/ 0 w 6858001"/>
              <a:gd name="T1" fmla="*/ 6967535 h 6967535"/>
              <a:gd name="T2" fmla="*/ 3657595 w 6858001"/>
              <a:gd name="T3" fmla="*/ 0 h 6967535"/>
              <a:gd name="T4" fmla="*/ 6858001 w 6858001"/>
              <a:gd name="T5" fmla="*/ 6967535 h 6967535"/>
              <a:gd name="T6" fmla="*/ 0 w 6858001"/>
              <a:gd name="T7" fmla="*/ 6967535 h 6967535"/>
              <a:gd name="T8" fmla="*/ 0 60000 65536"/>
              <a:gd name="T9" fmla="*/ 0 60000 65536"/>
              <a:gd name="T10" fmla="*/ 0 60000 65536"/>
              <a:gd name="T11" fmla="*/ 0 60000 65536"/>
              <a:gd name="T12" fmla="*/ 0 w 6858001"/>
              <a:gd name="T13" fmla="*/ 0 h 6967535"/>
              <a:gd name="T14" fmla="*/ 6858001 w 6858001"/>
              <a:gd name="T15" fmla="*/ 6967535 h 69675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1" h="6967535">
                <a:moveTo>
                  <a:pt x="0" y="6967535"/>
                </a:moveTo>
                <a:lnTo>
                  <a:pt x="3657595" y="0"/>
                </a:lnTo>
                <a:lnTo>
                  <a:pt x="6858001" y="6967535"/>
                </a:lnTo>
                <a:lnTo>
                  <a:pt x="0" y="6967535"/>
                </a:lnTo>
                <a:close/>
              </a:path>
            </a:pathLst>
          </a:custGeom>
          <a:blipFill dpi="0" rotWithShape="0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sz="1013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等腰三角形 7"/>
          <p:cNvSpPr>
            <a:spLocks noChangeArrowheads="1"/>
          </p:cNvSpPr>
          <p:nvPr/>
        </p:nvSpPr>
        <p:spPr bwMode="auto">
          <a:xfrm rot="16200000" flipV="1">
            <a:off x="-1487686" y="1487686"/>
            <a:ext cx="5143500" cy="2168129"/>
          </a:xfrm>
          <a:custGeom>
            <a:avLst/>
            <a:gdLst>
              <a:gd name="T0" fmla="*/ 0 w 6858002"/>
              <a:gd name="T1" fmla="*/ 2890837 h 2890837"/>
              <a:gd name="T2" fmla="*/ 1495422 w 6858002"/>
              <a:gd name="T3" fmla="*/ 0 h 2890837"/>
              <a:gd name="T4" fmla="*/ 6858002 w 6858002"/>
              <a:gd name="T5" fmla="*/ 2890837 h 2890837"/>
              <a:gd name="T6" fmla="*/ 0 w 6858002"/>
              <a:gd name="T7" fmla="*/ 2890837 h 2890837"/>
              <a:gd name="T8" fmla="*/ 0 60000 65536"/>
              <a:gd name="T9" fmla="*/ 0 60000 65536"/>
              <a:gd name="T10" fmla="*/ 0 60000 65536"/>
              <a:gd name="T11" fmla="*/ 0 60000 65536"/>
              <a:gd name="T12" fmla="*/ 0 w 6858002"/>
              <a:gd name="T13" fmla="*/ 0 h 2890837"/>
              <a:gd name="T14" fmla="*/ 6858002 w 6858002"/>
              <a:gd name="T15" fmla="*/ 2890837 h 28908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58002" h="2890837">
                <a:moveTo>
                  <a:pt x="0" y="2890837"/>
                </a:moveTo>
                <a:lnTo>
                  <a:pt x="1495422" y="0"/>
                </a:lnTo>
                <a:lnTo>
                  <a:pt x="6858002" y="2890837"/>
                </a:lnTo>
                <a:lnTo>
                  <a:pt x="0" y="2890837"/>
                </a:lnTo>
                <a:close/>
              </a:path>
            </a:pathLst>
          </a:custGeom>
          <a:solidFill>
            <a:srgbClr val="D8D8D8">
              <a:alpha val="2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 sz="1013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 bwMode="auto">
          <a:xfrm>
            <a:off x="4678218" y="2887692"/>
            <a:ext cx="3602139" cy="12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993" tIns="72497" rIns="144993" bIns="72497">
            <a:spAutoFit/>
          </a:bodyPr>
          <a:lstStyle>
            <a:lvl1pPr defTabSz="10874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1087438" indent="-285750" defTabSz="10874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2174875" indent="-228600" defTabSz="108743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3262313" indent="-228600" defTabSz="108743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4349750" indent="-228600" defTabSz="108743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48069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52641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57213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61785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建筑师 ：</a:t>
            </a:r>
            <a:r>
              <a: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Penda Austria</a:t>
            </a:r>
          </a:p>
          <a:p>
            <a:pPr>
              <a:lnSpc>
                <a:spcPct val="150000"/>
              </a:lnSpc>
            </a:pPr>
            <a:r>
              <a: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地 址 ：埃德湖</a:t>
            </a:r>
            <a:r>
              <a: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, </a:t>
            </a:r>
            <a:r>
              <a: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德国</a:t>
            </a:r>
          </a:p>
          <a:p>
            <a:pPr>
              <a:lnSpc>
                <a:spcPct val="150000"/>
              </a:lnSpc>
            </a:pPr>
            <a:r>
              <a: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建筑面积：</a:t>
            </a:r>
            <a:r>
              <a: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75.</a:t>
            </a:r>
            <a:r>
              <a: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平方米</a:t>
            </a:r>
          </a:p>
          <a:p>
            <a:pPr>
              <a:lnSpc>
                <a:spcPct val="150000"/>
              </a:lnSpc>
            </a:pPr>
            <a:r>
              <a: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项目年份：</a:t>
            </a:r>
            <a:r>
              <a: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Lantinghei SC Demibold" charset="-122"/>
              </a:rPr>
              <a:t>2017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25257" y="1785256"/>
            <a:ext cx="3352800" cy="682172"/>
            <a:chOff x="4325257" y="1785256"/>
            <a:chExt cx="3352800" cy="682172"/>
          </a:xfrm>
        </p:grpSpPr>
        <p:sp>
          <p:nvSpPr>
            <p:cNvPr id="3" name="圆角矩形 2"/>
            <p:cNvSpPr/>
            <p:nvPr/>
          </p:nvSpPr>
          <p:spPr>
            <a:xfrm>
              <a:off x="4325257" y="1785256"/>
              <a:ext cx="3352800" cy="68217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678218" y="1833954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阴阳住宅</a:t>
              </a:r>
              <a:endParaRPr lang="zh-CN" altLang="en-US" sz="3200" b="1" dirty="0">
                <a:solidFill>
                  <a:schemeClr val="bg1"/>
                </a:solidFill>
                <a:latin typeface="微软雅黑" charset="0"/>
                <a:ea typeface="微软雅黑" charset="0"/>
                <a:sym typeface="时尚中黑简体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171493"/>
      </p:ext>
    </p:extLst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rot="8100000">
            <a:off x="7081759" y="4289292"/>
            <a:ext cx="1708416" cy="1708416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63" name="直角三角形 62"/>
          <p:cNvSpPr/>
          <p:nvPr/>
        </p:nvSpPr>
        <p:spPr>
          <a:xfrm rot="13500000" flipV="1">
            <a:off x="809866" y="-700951"/>
            <a:ext cx="1396156" cy="1396156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Subtitle 2"/>
          <p:cNvSpPr txBox="1">
            <a:spLocks/>
          </p:cNvSpPr>
          <p:nvPr/>
        </p:nvSpPr>
        <p:spPr bwMode="auto">
          <a:xfrm>
            <a:off x="706376" y="1586512"/>
            <a:ext cx="4183971" cy="265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745" tIns="54373" rIns="108745" bIns="54373">
            <a:spAutoFit/>
          </a:bodyPr>
          <a:lstStyle>
            <a:lvl1pPr defTabSz="10874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1087438" indent="-285750" defTabSz="10874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2174875" indent="-228600" defTabSz="108743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3262313" indent="-228600" defTabSz="108743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4349750" indent="-228600" defTabSz="108743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48069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52641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57213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61785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槃达建筑事务，所在德国农村设计的这所“阴阳住宅”，将为家庭提供一种能够让他们自给自足的资源，同时让住宅中的生活、工作空间之间建立起和谐的对话。以解决我们的食物来源和不可持续发展的工业化农业所产生的隔阂，该住宅将成为一个鲜活的有机体，并且它会根据不同的季节，自然的改变。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该建筑将会持续保持着与自然的关系，房子的屋顶本身就是一道风景，两个山峰会在山脚处形成山谷。而逐级递增的屋顶也将便于收集雨水，并且会将雨水送到地面进行收集，以便在干旱的日子里为灌溉植物。这座阴阳住宅会在一年的时间里逐步发展成型。在设计方案中，槃达建筑事务所已经为冬天的几个月里提供了可控温的温室，还在屋顶上种了植物、蔬菜和水果等食物。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A794C2-E425-6F85-FFEF-BDA5960CDA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73" y="1586512"/>
            <a:ext cx="3104651" cy="266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50422"/>
      </p:ext>
    </p:extLst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直角三角形 18"/>
          <p:cNvSpPr/>
          <p:nvPr/>
        </p:nvSpPr>
        <p:spPr bwMode="auto">
          <a:xfrm flipV="1">
            <a:off x="0" y="2922386"/>
            <a:ext cx="4610254" cy="2239565"/>
          </a:xfrm>
          <a:prstGeom prst="rt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48518" y="840126"/>
            <a:ext cx="3602139" cy="3550310"/>
            <a:chOff x="748518" y="840126"/>
            <a:chExt cx="3602139" cy="3550310"/>
          </a:xfrm>
        </p:grpSpPr>
        <p:sp>
          <p:nvSpPr>
            <p:cNvPr id="21" name="Subtitle 2"/>
            <p:cNvSpPr txBox="1">
              <a:spLocks/>
            </p:cNvSpPr>
            <p:nvPr/>
          </p:nvSpPr>
          <p:spPr bwMode="auto">
            <a:xfrm>
              <a:off x="748518" y="1731992"/>
              <a:ext cx="3602139" cy="2658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4993" tIns="72497" rIns="144993" bIns="72497">
              <a:spAutoFit/>
            </a:bodyPr>
            <a:lstStyle>
              <a:lvl1pPr defTabSz="1087438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1087438" indent="-285750" defTabSz="1087438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2174875" indent="-228600" defTabSz="1087438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3262313" indent="-228600" defTabSz="108743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4349750" indent="-228600" defTabSz="10874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4806950" indent="-228600" defTabSz="10874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5264150" indent="-228600" defTabSz="10874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5721350" indent="-228600" defTabSz="10874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6178550" indent="-228600" defTabSz="10874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buFontTx/>
                <a:buNone/>
              </a:pPr>
              <a:r>
                <a:rPr lang="zh-CN" altLang="en-US" sz="1067" dirty="0">
                  <a:solidFill>
                    <a:schemeClr val="bg1">
                      <a:lumMod val="50000"/>
                    </a:schemeClr>
                  </a:solidFill>
                  <a:latin typeface="微软雅黑" charset="0"/>
                  <a:ea typeface="微软雅黑" charset="0"/>
                </a:rPr>
                <a:t>通过阴阳分区的设定，太极图在平面上意向的转化，应对屋主日常起居以及到来的不同访客；同时，两个分区在二层互不干扰，充分满足对私密性的要求。</a:t>
              </a:r>
              <a:endPara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  <a:p>
              <a:pPr eaLnBrk="1" hangingPunct="1">
                <a:lnSpc>
                  <a:spcPct val="120000"/>
                </a:lnSpc>
                <a:buFontTx/>
                <a:buNone/>
              </a:pPr>
              <a:endPara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  <a:p>
              <a:pPr algn="l"/>
              <a:r>
                <a:rPr lang="zh-CN" altLang="en-US" sz="1067" dirty="0">
                  <a:solidFill>
                    <a:schemeClr val="bg1">
                      <a:lumMod val="50000"/>
                    </a:schemeClr>
                  </a:solidFill>
                  <a:latin typeface="微软雅黑" charset="0"/>
                  <a:ea typeface="微软雅黑" charset="0"/>
                </a:rPr>
                <a:t>在入口处采用灰空间，一面向工作区，一面向生活区。将面向外界景观的开阔空间交给主卧与餐厅，而中间的弧线空间留给非主要功能空间</a:t>
              </a:r>
              <a:endPara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  <a:p>
              <a:pPr algn="l">
                <a:buNone/>
              </a:pPr>
              <a:endPara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  <a:p>
              <a:pPr algn="l"/>
              <a:r>
                <a:rPr lang="zh-CN" altLang="en-US" sz="1067" dirty="0">
                  <a:solidFill>
                    <a:schemeClr val="bg1">
                      <a:lumMod val="50000"/>
                    </a:schemeClr>
                  </a:solidFill>
                  <a:latin typeface="微软雅黑" charset="0"/>
                  <a:ea typeface="微软雅黑" charset="0"/>
                </a:rPr>
                <a:t>生活区：一层布置两个卧室以及开放的厨房与餐厅，二层则为通高的餐厅与起居室</a:t>
              </a:r>
              <a:endPara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  <a:p>
              <a:pPr algn="l">
                <a:buNone/>
              </a:pPr>
              <a:endParaRPr lang="zh-CN" altLang="en-US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  <a:p>
              <a:pPr algn="l"/>
              <a:r>
                <a:rPr lang="zh-CN" altLang="en-US" sz="1067" dirty="0">
                  <a:solidFill>
                    <a:schemeClr val="bg1">
                      <a:lumMod val="50000"/>
                    </a:schemeClr>
                  </a:solidFill>
                  <a:latin typeface="微软雅黑" charset="0"/>
                  <a:ea typeface="微软雅黑" charset="0"/>
                </a:rPr>
                <a:t>工作区：一层为工作室，二层为模型间。</a:t>
              </a:r>
            </a:p>
            <a:p>
              <a:pPr eaLnBrk="1" hangingPunct="1">
                <a:lnSpc>
                  <a:spcPct val="120000"/>
                </a:lnSpc>
                <a:buFontTx/>
                <a:buNone/>
              </a:pPr>
              <a:endParaRPr lang="en-US" altLang="zh-CN" sz="1067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223818" y="840126"/>
              <a:ext cx="2596078" cy="53702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841701" y="87780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charset="0"/>
                  <a:ea typeface="微软雅黑" charset="0"/>
                  <a:cs typeface="Lantinghei SC Demibold" charset="-122"/>
                  <a:sym typeface="时尚中黑简体" charset="0"/>
                </a:rPr>
                <a:t>功能分区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AAB5288C-A494-5D76-704B-7110BFA0A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160" y="144811"/>
            <a:ext cx="2325008" cy="485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00882"/>
      </p:ext>
    </p:extLst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rot="8100000">
            <a:off x="7081759" y="4289292"/>
            <a:ext cx="1708416" cy="1708416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63" name="直角三角形 62"/>
          <p:cNvSpPr/>
          <p:nvPr/>
        </p:nvSpPr>
        <p:spPr>
          <a:xfrm rot="13500000" flipV="1">
            <a:off x="809866" y="-700951"/>
            <a:ext cx="1396156" cy="1396156"/>
          </a:xfrm>
          <a:prstGeom prst="rt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Subtitle 2"/>
          <p:cNvSpPr txBox="1">
            <a:spLocks/>
          </p:cNvSpPr>
          <p:nvPr/>
        </p:nvSpPr>
        <p:spPr bwMode="auto">
          <a:xfrm>
            <a:off x="706376" y="1586512"/>
            <a:ext cx="4183971" cy="195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745" tIns="54373" rIns="108745" bIns="54373">
            <a:spAutoFit/>
          </a:bodyPr>
          <a:lstStyle>
            <a:lvl1pPr defTabSz="10874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1087438" indent="-285750" defTabSz="10874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2174875" indent="-228600" defTabSz="108743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3262313" indent="-228600" defTabSz="108743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4349750" indent="-228600" defTabSz="108743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48069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52641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57213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6178550" indent="-228600" defTabSz="10874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l">
              <a:buNone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 |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屋顶生态</a:t>
            </a:r>
          </a:p>
          <a:p>
            <a:pPr algn="l"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房子的屋顶本身就是一道风景：两个山峰会在山脚处形成山谷。而逐级递增的屋顶也将便于收集雨水，并且会将雨水送到地面进行收集，以便在干旱的日子里为灌溉植物。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buNone/>
            </a:pP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buNone/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2 |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可持续建筑</a:t>
            </a:r>
          </a:p>
          <a:p>
            <a:pPr algn="l"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冬日温室与屋顶植物，蔬菜水果等的种植，满足了自给自足生活的食物来源；同时，完全绿化的屋顶，既是一个景观平台，又是屋主人亲近自然的活动场所。</a:t>
            </a:r>
          </a:p>
          <a:p>
            <a:pPr>
              <a:buNone/>
            </a:pPr>
            <a:b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</a:b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7315E-C424-CC5A-0D06-654074144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706" y="280953"/>
            <a:ext cx="2327403" cy="22252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01D2D4-19CA-5E6E-CFC5-0F259D3121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706" y="2863517"/>
            <a:ext cx="2333064" cy="19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30839"/>
      </p:ext>
    </p:extLst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对角圆角矩形 2"/>
          <p:cNvSpPr/>
          <p:nvPr/>
        </p:nvSpPr>
        <p:spPr>
          <a:xfrm>
            <a:off x="1928814" y="1461408"/>
            <a:ext cx="5460542" cy="1756228"/>
          </a:xfrm>
          <a:prstGeom prst="round2Diag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09512" y="1616247"/>
            <a:ext cx="19976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pitchFamily="2" charset="-122"/>
                <a:cs typeface="+mn-cs"/>
              </a:rPr>
              <a:t>2022</a:t>
            </a:r>
            <a:endParaRPr kumimoji="0" lang="zh-CN" alt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71843" y="184146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感谢观看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71843" y="2450819"/>
            <a:ext cx="1882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112119108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黄笑尘</a:t>
            </a:r>
          </a:p>
        </p:txBody>
      </p:sp>
    </p:spTree>
    <p:extLst>
      <p:ext uri="{BB962C8B-B14F-4D97-AF65-F5344CB8AC3E}">
        <p14:creationId xmlns:p14="http://schemas.microsoft.com/office/powerpoint/2010/main" val="3078376892"/>
      </p:ext>
    </p:extLst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10"/>
                            </p:stCondLst>
                            <p:childTnLst>
                              <p:par>
                                <p:cTn id="16" presetID="2" presetClass="entr" presetSubtype="1" decel="28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20"/>
                            </p:stCondLst>
                            <p:childTnLst>
                              <p:par>
                                <p:cTn id="21" presetID="2" presetClass="entr" presetSubtype="4" decel="28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452</Words>
  <Application>Microsoft Office PowerPoint</Application>
  <PresentationFormat>全屏显示(16:9)</PresentationFormat>
  <Paragraphs>31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宋体</vt:lpstr>
      <vt:lpstr>微软雅黑</vt:lpstr>
      <vt:lpstr>Agency FB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description>锐旗设计；https://9ppt.taobao.com_x000d_
</dc:description>
  <cp:lastModifiedBy>Huang Xiao chen</cp:lastModifiedBy>
  <cp:revision>34</cp:revision>
  <dcterms:created xsi:type="dcterms:W3CDTF">2017-03-04T06:55:50Z</dcterms:created>
  <dcterms:modified xsi:type="dcterms:W3CDTF">2022-06-02T05:43:22Z</dcterms:modified>
</cp:coreProperties>
</file>